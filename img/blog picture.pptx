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66CC"/>
    <a:srgbClr val="B4B0EE"/>
    <a:srgbClr val="9D97E9"/>
    <a:srgbClr val="A09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94660"/>
  </p:normalViewPr>
  <p:slideViewPr>
    <p:cSldViewPr snapToGrid="0">
      <p:cViewPr>
        <p:scale>
          <a:sx n="200" d="100"/>
          <a:sy n="200" d="100"/>
        </p:scale>
        <p:origin x="-6564" y="-3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DCDDB-8E58-A953-8527-EE964AADF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7A87B9-CC2F-CCB5-B834-921247754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4EC37-5778-CF20-1C7D-5B352E28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29A951-9DB1-C233-EE86-7CDAA361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FE40E-6DAD-7024-D1F4-86038F2B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64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F5839-8358-5733-B7E8-61CC78FB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6E42A-34E9-E81D-0C57-916B8F5A2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C55CAE-88E6-99F5-B357-E18F7B9A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891509-233A-7B0E-8F8E-237A5714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B4C62-D96E-5D90-A32C-F3F49336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1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1823E-A469-784F-3553-1A7D8D9C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80A579-E8BB-357F-39CF-AC8B414C1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B7DFFE-A886-BCFF-4619-54E71157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FF3002-49E2-2F5A-6C0B-3C22B80A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B0F398-EBDE-E9E3-2274-B474D36E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42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99323-4750-42F3-15C0-DA717448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A12B5-3A14-879A-C6CC-6A92AB074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D736F3-CE7F-65F2-BA60-CACA895C4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449BD0-2E4B-F358-4744-B01D11FC9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3074D9-4B4A-3F82-6622-307E3068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341F9B-6946-3734-17FA-56885449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12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B1504-796E-4C8B-221B-8240570C8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0EB8F4-EBE9-E432-40E6-8B3F0166A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92FFCF-C7B5-E54D-0057-DF1844746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EBC1FF-D419-A65F-94B1-84AD3D533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D2D90D-C29B-4B5E-19CE-C0317D4B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314E82-7847-E066-3CEA-D468E79E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DE8EDF-6261-4E07-E249-204E1101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C66E26-271A-192F-CC94-E27E5CE7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C58C8-3B97-6C9B-2EC2-CD555A1A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0EAF1A-863D-84A4-5088-8A24B691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9D6B8C-37A4-8E4E-0E8E-AFB58EBF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1B2132-1ACE-37A6-2030-6BC39354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50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5AD82-E3D6-476A-363A-88BCED72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FACBE6-ADBC-9182-6AB8-002F4B85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8A1B00-41EF-1645-A764-F0B7A6CF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57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BC628-E110-D20C-6A9F-441B8117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5C1F8-E9A5-4E4B-2A5A-AC351838C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7331BE-33CE-F9A4-7FF6-89A56ED5D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52BDAC-DA84-CF03-CDEC-1EA28F9A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04B668-3AD0-974A-8313-32794B60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D0D220-2C7A-5762-651C-E52031CD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71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60A7A-0AA5-7B17-3702-2EC46A47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04E132-8754-E893-72F1-52F5445D0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CCD8B8-38A6-8A6A-C40D-CEAC5916F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6D6862-08CF-5432-5C7A-E783656A1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3AEA60-1213-B843-C466-981CB0C1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6884A9-86E6-0A3F-DA7D-6B8F3D83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9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CD33E-F028-DFC5-FBD1-69CEC1AB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F24A46-EC93-379D-2092-EE86404C4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421C9-B1CB-67CC-65D7-FDC15EC9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08CBA-28ED-63B7-A78D-E2F80C79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9EC9F7-BBCB-4C1C-1A4A-115C2A80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61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B4AE00-EFD9-59BC-C3BB-015272ACF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5E4045-03B3-B159-D547-5016DC1A9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F758CE-F3C1-61CD-7FF3-50DDF16A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1190A8-3772-8831-C9C9-163B8A62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EE517C-6DA5-5B73-86C6-0819BE75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88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DFCB11-CF1B-6151-11FC-92FB166B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EF1808-443B-A32F-38E8-C018C3811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BEA58-5765-1BBB-0852-BE56494B3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36336-6AF7-4E77-891D-FF9C5F044369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27266D-D4CF-9BF1-6D1F-DB1102BE1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0FF00A-FAA0-2B5E-C241-7F2CF4308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E58C7-1FBB-4B6F-B180-E557B7F8B7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58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709C6BD-74E9-61A2-92A8-5F5B20320BDF}"/>
              </a:ext>
            </a:extLst>
          </p:cNvPr>
          <p:cNvGrpSpPr/>
          <p:nvPr/>
        </p:nvGrpSpPr>
        <p:grpSpPr>
          <a:xfrm>
            <a:off x="3394075" y="1398905"/>
            <a:ext cx="5403850" cy="4060190"/>
            <a:chOff x="0" y="0"/>
            <a:chExt cx="5404290" cy="40606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D03995D-5387-1FD8-492C-9B9D49A6CFEC}"/>
                </a:ext>
              </a:extLst>
            </p:cNvPr>
            <p:cNvGrpSpPr/>
            <p:nvPr/>
          </p:nvGrpSpPr>
          <p:grpSpPr>
            <a:xfrm>
              <a:off x="216470" y="220202"/>
              <a:ext cx="4960153" cy="3635168"/>
              <a:chOff x="0" y="0"/>
              <a:chExt cx="4960153" cy="3635168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65F5E7C-681F-03A9-7E58-9ABC7718DD71}"/>
                  </a:ext>
                </a:extLst>
              </p:cNvPr>
              <p:cNvSpPr/>
              <p:nvPr/>
            </p:nvSpPr>
            <p:spPr>
              <a:xfrm>
                <a:off x="7464" y="0"/>
                <a:ext cx="4941493" cy="33782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sz="1050" kern="10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前端页面（</a:t>
                </a:r>
                <a:r>
                  <a:rPr lang="en-US" sz="1050" kern="10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Nginx</a:t>
                </a:r>
                <a:r>
                  <a:rPr lang="zh-CN" sz="1050" kern="10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CF15FDCF-3F41-B15F-8F39-1AE0B677E566}"/>
                  </a:ext>
                </a:extLst>
              </p:cNvPr>
              <p:cNvGrpSpPr/>
              <p:nvPr/>
            </p:nvGrpSpPr>
            <p:grpSpPr>
              <a:xfrm>
                <a:off x="0" y="2216954"/>
                <a:ext cx="4945224" cy="600891"/>
                <a:chOff x="0" y="0"/>
                <a:chExt cx="4945224" cy="600891"/>
              </a:xfrm>
            </p:grpSpPr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B4C61C59-089D-2BB4-EA4F-BFD62D1EC90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945224" cy="600891"/>
                </a:xfrm>
                <a:prstGeom prst="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CA5D3B8D-1F9D-2217-DC9E-E94AB2ADBE61}"/>
                    </a:ext>
                  </a:extLst>
                </p:cNvPr>
                <p:cNvGrpSpPr/>
                <p:nvPr/>
              </p:nvGrpSpPr>
              <p:grpSpPr>
                <a:xfrm>
                  <a:off x="201541" y="119431"/>
                  <a:ext cx="4538177" cy="357809"/>
                  <a:chOff x="0" y="0"/>
                  <a:chExt cx="4538177" cy="357809"/>
                </a:xfrm>
              </p:grpSpPr>
              <p:sp>
                <p:nvSpPr>
                  <p:cNvPr id="29" name="矩形 28">
                    <a:extLst>
                      <a:ext uri="{FF2B5EF4-FFF2-40B4-BE49-F238E27FC236}">
                        <a16:creationId xmlns:a16="http://schemas.microsoft.com/office/drawing/2014/main" id="{E5E65A9B-E7AA-CD4D-DEF5-6E031178318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8963" cy="357809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MySQL / sqlite3</a:t>
                    </a:r>
                    <a:endParaRPr lang="zh-CN" sz="1050" kern="10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" name="矩形 29">
                    <a:extLst>
                      <a:ext uri="{FF2B5EF4-FFF2-40B4-BE49-F238E27FC236}">
                        <a16:creationId xmlns:a16="http://schemas.microsoft.com/office/drawing/2014/main" id="{3EFC285D-ADEB-5619-8143-2CF5612C6D93}"/>
                      </a:ext>
                    </a:extLst>
                  </p:cNvPr>
                  <p:cNvSpPr/>
                  <p:nvPr/>
                </p:nvSpPr>
                <p:spPr>
                  <a:xfrm>
                    <a:off x="1410789" y="0"/>
                    <a:ext cx="656875" cy="357505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Redis</a:t>
                    </a:r>
                    <a:endParaRPr lang="zh-CN" sz="1050" kern="10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" name="矩形 30">
                    <a:extLst>
                      <a:ext uri="{FF2B5EF4-FFF2-40B4-BE49-F238E27FC236}">
                        <a16:creationId xmlns:a16="http://schemas.microsoft.com/office/drawing/2014/main" id="{106ADCCC-80FA-489A-F087-85E32E64F3B9}"/>
                      </a:ext>
                    </a:extLst>
                  </p:cNvPr>
                  <p:cNvSpPr/>
                  <p:nvPr/>
                </p:nvSpPr>
                <p:spPr>
                  <a:xfrm>
                    <a:off x="2332653" y="0"/>
                    <a:ext cx="903203" cy="357809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InfluxDB</a:t>
                    </a:r>
                    <a:endParaRPr lang="zh-CN" sz="1050" kern="10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11457383-43ED-DDA9-1948-D6DBEE10B19A}"/>
                      </a:ext>
                    </a:extLst>
                  </p:cNvPr>
                  <p:cNvSpPr/>
                  <p:nvPr/>
                </p:nvSpPr>
                <p:spPr>
                  <a:xfrm>
                    <a:off x="3500846" y="0"/>
                    <a:ext cx="1037331" cy="357809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MinIO(</a:t>
                    </a:r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可选</a:t>
                    </a:r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)</a:t>
                    </a:r>
                    <a:endParaRPr lang="zh-CN" sz="1050" kern="10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D466A159-7C3F-55AE-D90E-C8E8406C8DE9}"/>
                  </a:ext>
                </a:extLst>
              </p:cNvPr>
              <p:cNvGrpSpPr/>
              <p:nvPr/>
            </p:nvGrpSpPr>
            <p:grpSpPr>
              <a:xfrm>
                <a:off x="3732" y="481460"/>
                <a:ext cx="4937760" cy="1589937"/>
                <a:chOff x="0" y="0"/>
                <a:chExt cx="4937760" cy="1589937"/>
              </a:xfrm>
            </p:grpSpPr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EE19D87E-92FD-6841-ED1E-783EC6C39842}"/>
                    </a:ext>
                  </a:extLst>
                </p:cNvPr>
                <p:cNvGrpSpPr/>
                <p:nvPr/>
              </p:nvGrpSpPr>
              <p:grpSpPr>
                <a:xfrm>
                  <a:off x="209006" y="138093"/>
                  <a:ext cx="4529084" cy="1298335"/>
                  <a:chOff x="0" y="0"/>
                  <a:chExt cx="4529084" cy="1298335"/>
                </a:xfrm>
              </p:grpSpPr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A60145F4-43A7-060E-7ABD-5B854B86371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8963" cy="35780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 dirty="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用户管理</a:t>
                    </a:r>
                  </a:p>
                </p:txBody>
              </p:sp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CCD0E5F7-04BC-2843-FEEE-7DEB543345DF}"/>
                      </a:ext>
                    </a:extLst>
                  </p:cNvPr>
                  <p:cNvSpPr/>
                  <p:nvPr/>
                </p:nvSpPr>
                <p:spPr>
                  <a:xfrm>
                    <a:off x="0" y="470263"/>
                    <a:ext cx="1148963" cy="35780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项目组管理</a:t>
                    </a:r>
                  </a:p>
                </p:txBody>
              </p:sp>
              <p:sp>
                <p:nvSpPr>
                  <p:cNvPr id="20" name="矩形 19">
                    <a:extLst>
                      <a:ext uri="{FF2B5EF4-FFF2-40B4-BE49-F238E27FC236}">
                        <a16:creationId xmlns:a16="http://schemas.microsoft.com/office/drawing/2014/main" id="{87765725-FE30-A93B-1D41-D470EC903FB5}"/>
                      </a:ext>
                    </a:extLst>
                  </p:cNvPr>
                  <p:cNvSpPr/>
                  <p:nvPr/>
                </p:nvSpPr>
                <p:spPr>
                  <a:xfrm>
                    <a:off x="0" y="940526"/>
                    <a:ext cx="1148963" cy="35780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服务器管理</a:t>
                    </a:r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462E9893-2301-E958-1EAD-BE9FDC1094D5}"/>
                      </a:ext>
                    </a:extLst>
                  </p:cNvPr>
                  <p:cNvSpPr/>
                  <p:nvPr/>
                </p:nvSpPr>
                <p:spPr>
                  <a:xfrm>
                    <a:off x="1451843" y="0"/>
                    <a:ext cx="1148963" cy="35780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服务器远程连接</a:t>
                    </a:r>
                  </a:p>
                </p:txBody>
              </p:sp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BA618783-6567-4D92-A48C-245F98BE85BA}"/>
                      </a:ext>
                    </a:extLst>
                  </p:cNvPr>
                  <p:cNvSpPr/>
                  <p:nvPr/>
                </p:nvSpPr>
                <p:spPr>
                  <a:xfrm>
                    <a:off x="1451843" y="470263"/>
                    <a:ext cx="1148963" cy="35780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自动部署</a:t>
                    </a:r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agent</a:t>
                    </a:r>
                    <a:endParaRPr lang="zh-CN" sz="1050" kern="10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D6495198-BEC9-9FD5-A00E-0C254720424C}"/>
                      </a:ext>
                    </a:extLst>
                  </p:cNvPr>
                  <p:cNvSpPr/>
                  <p:nvPr/>
                </p:nvSpPr>
                <p:spPr>
                  <a:xfrm>
                    <a:off x="2899954" y="0"/>
                    <a:ext cx="1622066" cy="35750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服务器资源监控可视化</a:t>
                    </a:r>
                  </a:p>
                </p:txBody>
              </p:sp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BA1F6824-8B62-9EBF-99BF-EFB05EACD5B2}"/>
                      </a:ext>
                    </a:extLst>
                  </p:cNvPr>
                  <p:cNvSpPr/>
                  <p:nvPr/>
                </p:nvSpPr>
                <p:spPr>
                  <a:xfrm>
                    <a:off x="2899954" y="466530"/>
                    <a:ext cx="1624592" cy="35750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Nginx</a:t>
                    </a:r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流量采集可视化</a:t>
                    </a:r>
                  </a:p>
                </p:txBody>
              </p:sp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A606DCBD-C354-8CBB-E2C1-0D8B8CF55E1C}"/>
                      </a:ext>
                    </a:extLst>
                  </p:cNvPr>
                  <p:cNvSpPr/>
                  <p:nvPr/>
                </p:nvSpPr>
                <p:spPr>
                  <a:xfrm>
                    <a:off x="2899954" y="936793"/>
                    <a:ext cx="1629130" cy="35750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性能测试用例管理</a:t>
                    </a:r>
                  </a:p>
                </p:txBody>
              </p:sp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54F0D3B2-B1DE-F564-03DF-E443C87D1E3B}"/>
                      </a:ext>
                    </a:extLst>
                  </p:cNvPr>
                  <p:cNvSpPr/>
                  <p:nvPr/>
                </p:nvSpPr>
                <p:spPr>
                  <a:xfrm>
                    <a:off x="1451843" y="940526"/>
                    <a:ext cx="1148963" cy="35780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分布式压测模块</a:t>
                    </a:r>
                  </a:p>
                </p:txBody>
              </p:sp>
            </p:grp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C2F5A121-6568-9AD3-92B7-9B2CD3A5DED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937760" cy="1589937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742FEF7F-F1B4-0A79-2578-A62D45875B1B}"/>
                  </a:ext>
                </a:extLst>
              </p:cNvPr>
              <p:cNvGrpSpPr/>
              <p:nvPr/>
            </p:nvGrpSpPr>
            <p:grpSpPr>
              <a:xfrm>
                <a:off x="0" y="2996993"/>
                <a:ext cx="4960153" cy="638175"/>
                <a:chOff x="0" y="0"/>
                <a:chExt cx="4960153" cy="638175"/>
              </a:xfrm>
            </p:grpSpPr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893F629E-46A9-C70A-73BE-0A055B48069F}"/>
                    </a:ext>
                  </a:extLst>
                </p:cNvPr>
                <p:cNvGrpSpPr/>
                <p:nvPr/>
              </p:nvGrpSpPr>
              <p:grpSpPr>
                <a:xfrm>
                  <a:off x="190344" y="134361"/>
                  <a:ext cx="4564535" cy="357505"/>
                  <a:chOff x="0" y="0"/>
                  <a:chExt cx="4564535" cy="357505"/>
                </a:xfrm>
              </p:grpSpPr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FD1D7846-BC00-E313-B3C1-FDDEEEF3CCB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548882" cy="35750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服务器资源监控</a:t>
                    </a:r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Agent</a:t>
                    </a:r>
                    <a:endParaRPr lang="zh-CN" sz="1050" kern="10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矩形 13">
                    <a:extLst>
                      <a:ext uri="{FF2B5EF4-FFF2-40B4-BE49-F238E27FC236}">
                        <a16:creationId xmlns:a16="http://schemas.microsoft.com/office/drawing/2014/main" id="{2863F49B-0E63-CD68-8D53-F71447B2E18B}"/>
                      </a:ext>
                    </a:extLst>
                  </p:cNvPr>
                  <p:cNvSpPr/>
                  <p:nvPr/>
                </p:nvSpPr>
                <p:spPr>
                  <a:xfrm>
                    <a:off x="1668313" y="0"/>
                    <a:ext cx="1507827" cy="35750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Nginx</a:t>
                    </a:r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流量采集</a:t>
                    </a:r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Agent</a:t>
                    </a:r>
                    <a:endParaRPr lang="zh-CN" sz="1050" kern="10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6DED2D8F-81A0-6A28-D2B3-8BB40BEBFA93}"/>
                      </a:ext>
                    </a:extLst>
                  </p:cNvPr>
                  <p:cNvSpPr/>
                  <p:nvPr/>
                </p:nvSpPr>
                <p:spPr>
                  <a:xfrm>
                    <a:off x="3295572" y="0"/>
                    <a:ext cx="1268963" cy="35750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JMeter</a:t>
                    </a:r>
                    <a:r>
                      <a:rPr lang="zh-CN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压测</a:t>
                    </a:r>
                    <a:r>
                      <a:rPr lang="en-US" sz="1050" kern="100">
                        <a:effectLst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a:t>Agent</a:t>
                    </a:r>
                    <a:endParaRPr lang="zh-CN" sz="1050" kern="10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8B1D1AF-18F4-B09C-D82B-B4F6EB7240F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960153" cy="638175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5EBC3DB-DB48-50AC-2C16-C1CB1158A3B5}"/>
                </a:ext>
              </a:extLst>
            </p:cNvPr>
            <p:cNvSpPr/>
            <p:nvPr/>
          </p:nvSpPr>
          <p:spPr>
            <a:xfrm>
              <a:off x="0" y="0"/>
              <a:ext cx="5404290" cy="40606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564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38B6C16-2A1B-454F-4826-CE47DD528072}"/>
              </a:ext>
            </a:extLst>
          </p:cNvPr>
          <p:cNvGrpSpPr/>
          <p:nvPr/>
        </p:nvGrpSpPr>
        <p:grpSpPr>
          <a:xfrm>
            <a:off x="250613" y="362691"/>
            <a:ext cx="3393481" cy="2305685"/>
            <a:chOff x="0" y="0"/>
            <a:chExt cx="3393481" cy="2305750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B2A04569-4AC1-0F97-BB40-F50F221B978F}"/>
                </a:ext>
              </a:extLst>
            </p:cNvPr>
            <p:cNvCxnSpPr/>
            <p:nvPr/>
          </p:nvCxnSpPr>
          <p:spPr>
            <a:xfrm flipV="1">
              <a:off x="789059" y="0"/>
              <a:ext cx="0" cy="2291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032B8D1-6E38-E4EC-3373-EB18F1304BAE}"/>
                </a:ext>
              </a:extLst>
            </p:cNvPr>
            <p:cNvCxnSpPr/>
            <p:nvPr/>
          </p:nvCxnSpPr>
          <p:spPr>
            <a:xfrm flipV="1">
              <a:off x="787504" y="1786967"/>
              <a:ext cx="1802130" cy="6985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F9EA50A-4C7A-0993-E88F-018D425B9444}"/>
                </a:ext>
              </a:extLst>
            </p:cNvPr>
            <p:cNvCxnSpPr/>
            <p:nvPr/>
          </p:nvCxnSpPr>
          <p:spPr>
            <a:xfrm flipV="1">
              <a:off x="787504" y="562791"/>
              <a:ext cx="1802130" cy="6985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FE224C8-9D44-666B-06FB-A77C5FC909DF}"/>
                </a:ext>
              </a:extLst>
            </p:cNvPr>
            <p:cNvCxnSpPr/>
            <p:nvPr/>
          </p:nvCxnSpPr>
          <p:spPr>
            <a:xfrm flipV="1">
              <a:off x="791236" y="1174879"/>
              <a:ext cx="1802130" cy="6985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文本框 30">
              <a:extLst>
                <a:ext uri="{FF2B5EF4-FFF2-40B4-BE49-F238E27FC236}">
                  <a16:creationId xmlns:a16="http://schemas.microsoft.com/office/drawing/2014/main" id="{4B3F3DA3-8FF0-6766-B1A6-1B0856D533D3}"/>
                </a:ext>
              </a:extLst>
            </p:cNvPr>
            <p:cNvSpPr txBox="1"/>
            <p:nvPr/>
          </p:nvSpPr>
          <p:spPr>
            <a:xfrm>
              <a:off x="0" y="99990"/>
              <a:ext cx="808990" cy="2876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1050" kern="100" dirty="0" err="1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pages_free</a:t>
              </a:r>
              <a:endParaRPr 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30">
              <a:extLst>
                <a:ext uri="{FF2B5EF4-FFF2-40B4-BE49-F238E27FC236}">
                  <a16:creationId xmlns:a16="http://schemas.microsoft.com/office/drawing/2014/main" id="{3C004E29-4FCA-B49A-0279-184A7B158901}"/>
                </a:ext>
              </a:extLst>
            </p:cNvPr>
            <p:cNvSpPr txBox="1"/>
            <p:nvPr/>
          </p:nvSpPr>
          <p:spPr>
            <a:xfrm>
              <a:off x="2552741" y="394829"/>
              <a:ext cx="840740" cy="2870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105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pages_high</a:t>
              </a:r>
              <a:endParaRPr lang="zh-CN" sz="105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30">
              <a:extLst>
                <a:ext uri="{FF2B5EF4-FFF2-40B4-BE49-F238E27FC236}">
                  <a16:creationId xmlns:a16="http://schemas.microsoft.com/office/drawing/2014/main" id="{B1F1EAD1-10F9-4C69-2730-9B0FA3447D5B}"/>
                </a:ext>
              </a:extLst>
            </p:cNvPr>
            <p:cNvSpPr txBox="1"/>
            <p:nvPr/>
          </p:nvSpPr>
          <p:spPr>
            <a:xfrm>
              <a:off x="2545162" y="991971"/>
              <a:ext cx="786765" cy="2876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105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pages_low</a:t>
              </a:r>
              <a:endParaRPr lang="zh-CN" sz="105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30">
              <a:extLst>
                <a:ext uri="{FF2B5EF4-FFF2-40B4-BE49-F238E27FC236}">
                  <a16:creationId xmlns:a16="http://schemas.microsoft.com/office/drawing/2014/main" id="{6F9AEB30-721D-4394-433D-DF9135A74216}"/>
                </a:ext>
              </a:extLst>
            </p:cNvPr>
            <p:cNvSpPr txBox="1"/>
            <p:nvPr/>
          </p:nvSpPr>
          <p:spPr>
            <a:xfrm>
              <a:off x="2533794" y="1615238"/>
              <a:ext cx="802640" cy="2870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105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pages_min</a:t>
              </a:r>
              <a:endParaRPr lang="zh-CN" sz="105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30">
              <a:extLst>
                <a:ext uri="{FF2B5EF4-FFF2-40B4-BE49-F238E27FC236}">
                  <a16:creationId xmlns:a16="http://schemas.microsoft.com/office/drawing/2014/main" id="{9C24B4DB-6724-AFCE-E0BE-BC15B19BF4E0}"/>
                </a:ext>
              </a:extLst>
            </p:cNvPr>
            <p:cNvSpPr txBox="1"/>
            <p:nvPr/>
          </p:nvSpPr>
          <p:spPr>
            <a:xfrm>
              <a:off x="1347325" y="174633"/>
              <a:ext cx="723265" cy="2876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zh-CN" sz="1050" kern="100">
                  <a:solidFill>
                    <a:srgbClr val="4472C4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内存充足</a:t>
              </a:r>
              <a:endParaRPr lang="zh-CN" sz="105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30">
              <a:extLst>
                <a:ext uri="{FF2B5EF4-FFF2-40B4-BE49-F238E27FC236}">
                  <a16:creationId xmlns:a16="http://schemas.microsoft.com/office/drawing/2014/main" id="{FD54AA3F-E5A7-390D-583B-6B0B4E9FC824}"/>
                </a:ext>
              </a:extLst>
            </p:cNvPr>
            <p:cNvSpPr txBox="1"/>
            <p:nvPr/>
          </p:nvSpPr>
          <p:spPr>
            <a:xfrm>
              <a:off x="1280145" y="738186"/>
              <a:ext cx="875665" cy="2876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zh-CN" sz="900" kern="100">
                  <a:solidFill>
                    <a:srgbClr val="70AD47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内存分配正常</a:t>
              </a:r>
              <a:endParaRPr lang="zh-CN" sz="105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30">
              <a:extLst>
                <a:ext uri="{FF2B5EF4-FFF2-40B4-BE49-F238E27FC236}">
                  <a16:creationId xmlns:a16="http://schemas.microsoft.com/office/drawing/2014/main" id="{D7A3688E-E0AD-3EC7-4CC2-438BBB8CE968}"/>
                </a:ext>
              </a:extLst>
            </p:cNvPr>
            <p:cNvSpPr txBox="1"/>
            <p:nvPr/>
          </p:nvSpPr>
          <p:spPr>
            <a:xfrm>
              <a:off x="1280145" y="1324132"/>
              <a:ext cx="875665" cy="2876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zh-CN" sz="900" kern="100">
                  <a:solidFill>
                    <a:srgbClr val="ED7D3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内存压力巨大</a:t>
              </a:r>
              <a:endParaRPr lang="zh-CN" sz="105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30">
              <a:extLst>
                <a:ext uri="{FF2B5EF4-FFF2-40B4-BE49-F238E27FC236}">
                  <a16:creationId xmlns:a16="http://schemas.microsoft.com/office/drawing/2014/main" id="{0CFBC56E-C061-5A9D-D6CA-580B97B2A8F0}"/>
                </a:ext>
              </a:extLst>
            </p:cNvPr>
            <p:cNvSpPr txBox="1"/>
            <p:nvPr/>
          </p:nvSpPr>
          <p:spPr>
            <a:xfrm>
              <a:off x="1078619" y="1809361"/>
              <a:ext cx="1276428" cy="49638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sz="900" kern="10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内存基本耗尽</a:t>
              </a:r>
              <a:endParaRPr lang="zh-CN" sz="105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sz="900" kern="10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仅内核可分配内存</a:t>
              </a:r>
              <a:endParaRPr lang="zh-CN" sz="105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ED9F949-CDC3-C511-8C8C-1DF374020A78}"/>
              </a:ext>
            </a:extLst>
          </p:cNvPr>
          <p:cNvGrpSpPr/>
          <p:nvPr/>
        </p:nvGrpSpPr>
        <p:grpSpPr>
          <a:xfrm>
            <a:off x="6864350" y="4054475"/>
            <a:ext cx="5030946" cy="2289198"/>
            <a:chOff x="6864350" y="4054475"/>
            <a:chExt cx="5030946" cy="2289198"/>
          </a:xfrm>
        </p:grpSpPr>
        <p:cxnSp>
          <p:nvCxnSpPr>
            <p:cNvPr id="3" name="连接符: 肘形 2">
              <a:extLst>
                <a:ext uri="{FF2B5EF4-FFF2-40B4-BE49-F238E27FC236}">
                  <a16:creationId xmlns:a16="http://schemas.microsoft.com/office/drawing/2014/main" id="{584F446C-D202-B7A7-9F89-69D5C198808C}"/>
                </a:ext>
              </a:extLst>
            </p:cNvPr>
            <p:cNvCxnSpPr>
              <a:cxnSpLocks/>
            </p:cNvCxnSpPr>
            <p:nvPr/>
          </p:nvCxnSpPr>
          <p:spPr>
            <a:xfrm>
              <a:off x="6864350" y="4054475"/>
              <a:ext cx="4946650" cy="2012950"/>
            </a:xfrm>
            <a:prstGeom prst="bentConnector3">
              <a:avLst>
                <a:gd name="adj1" fmla="val 64"/>
              </a:avLst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5F97CFD1-C9AB-E22B-786B-CCBE67152C4E}"/>
                </a:ext>
              </a:extLst>
            </p:cNvPr>
            <p:cNvSpPr/>
            <p:nvPr/>
          </p:nvSpPr>
          <p:spPr>
            <a:xfrm>
              <a:off x="6870700" y="4387631"/>
              <a:ext cx="4613275" cy="1575020"/>
            </a:xfrm>
            <a:custGeom>
              <a:avLst/>
              <a:gdLst>
                <a:gd name="connsiteX0" fmla="*/ 0 w 4578350"/>
                <a:gd name="connsiteY0" fmla="*/ 881795 h 881795"/>
                <a:gd name="connsiteX1" fmla="*/ 1666875 w 4578350"/>
                <a:gd name="connsiteY1" fmla="*/ 2320 h 881795"/>
                <a:gd name="connsiteX2" fmla="*/ 4578350 w 4578350"/>
                <a:gd name="connsiteY2" fmla="*/ 675420 h 881795"/>
                <a:gd name="connsiteX0" fmla="*/ 0 w 4578350"/>
                <a:gd name="connsiteY0" fmla="*/ 982913 h 982913"/>
                <a:gd name="connsiteX1" fmla="*/ 2139950 w 4578350"/>
                <a:gd name="connsiteY1" fmla="*/ 1838 h 982913"/>
                <a:gd name="connsiteX2" fmla="*/ 4578350 w 4578350"/>
                <a:gd name="connsiteY2" fmla="*/ 776538 h 982913"/>
                <a:gd name="connsiteX0" fmla="*/ 0 w 4578350"/>
                <a:gd name="connsiteY0" fmla="*/ 1569281 h 1569281"/>
                <a:gd name="connsiteX1" fmla="*/ 2562225 w 4578350"/>
                <a:gd name="connsiteY1" fmla="*/ 831 h 1569281"/>
                <a:gd name="connsiteX2" fmla="*/ 4578350 w 4578350"/>
                <a:gd name="connsiteY2" fmla="*/ 1362906 h 1569281"/>
                <a:gd name="connsiteX0" fmla="*/ 0 w 4578350"/>
                <a:gd name="connsiteY0" fmla="*/ 1574567 h 1574567"/>
                <a:gd name="connsiteX1" fmla="*/ 2562225 w 4578350"/>
                <a:gd name="connsiteY1" fmla="*/ 6117 h 1574567"/>
                <a:gd name="connsiteX2" fmla="*/ 4124325 w 4578350"/>
                <a:gd name="connsiteY2" fmla="*/ 987192 h 1574567"/>
                <a:gd name="connsiteX3" fmla="*/ 4578350 w 4578350"/>
                <a:gd name="connsiteY3" fmla="*/ 1368192 h 1574567"/>
                <a:gd name="connsiteX0" fmla="*/ 0 w 4613275"/>
                <a:gd name="connsiteY0" fmla="*/ 1574567 h 1574567"/>
                <a:gd name="connsiteX1" fmla="*/ 2562225 w 4613275"/>
                <a:gd name="connsiteY1" fmla="*/ 6117 h 1574567"/>
                <a:gd name="connsiteX2" fmla="*/ 4124325 w 4613275"/>
                <a:gd name="connsiteY2" fmla="*/ 987192 h 1574567"/>
                <a:gd name="connsiteX3" fmla="*/ 4613275 w 4613275"/>
                <a:gd name="connsiteY3" fmla="*/ 1384067 h 1574567"/>
                <a:gd name="connsiteX0" fmla="*/ 0 w 4613275"/>
                <a:gd name="connsiteY0" fmla="*/ 1574741 h 1574741"/>
                <a:gd name="connsiteX1" fmla="*/ 2562225 w 4613275"/>
                <a:gd name="connsiteY1" fmla="*/ 6291 h 1574741"/>
                <a:gd name="connsiteX2" fmla="*/ 4124325 w 4613275"/>
                <a:gd name="connsiteY2" fmla="*/ 987366 h 1574741"/>
                <a:gd name="connsiteX3" fmla="*/ 4613275 w 4613275"/>
                <a:gd name="connsiteY3" fmla="*/ 1384241 h 1574741"/>
                <a:gd name="connsiteX0" fmla="*/ 0 w 4613275"/>
                <a:gd name="connsiteY0" fmla="*/ 1574485 h 1574485"/>
                <a:gd name="connsiteX1" fmla="*/ 2562225 w 4613275"/>
                <a:gd name="connsiteY1" fmla="*/ 6035 h 1574485"/>
                <a:gd name="connsiteX2" fmla="*/ 4124325 w 4613275"/>
                <a:gd name="connsiteY2" fmla="*/ 987110 h 1574485"/>
                <a:gd name="connsiteX3" fmla="*/ 4613275 w 4613275"/>
                <a:gd name="connsiteY3" fmla="*/ 1383985 h 1574485"/>
                <a:gd name="connsiteX0" fmla="*/ 0 w 4613275"/>
                <a:gd name="connsiteY0" fmla="*/ 1574046 h 1574046"/>
                <a:gd name="connsiteX1" fmla="*/ 2562225 w 4613275"/>
                <a:gd name="connsiteY1" fmla="*/ 5596 h 1574046"/>
                <a:gd name="connsiteX2" fmla="*/ 4124325 w 4613275"/>
                <a:gd name="connsiteY2" fmla="*/ 986671 h 1574046"/>
                <a:gd name="connsiteX3" fmla="*/ 4613275 w 4613275"/>
                <a:gd name="connsiteY3" fmla="*/ 1383546 h 1574046"/>
                <a:gd name="connsiteX0" fmla="*/ 0 w 4613275"/>
                <a:gd name="connsiteY0" fmla="*/ 1575020 h 1575020"/>
                <a:gd name="connsiteX1" fmla="*/ 2562225 w 4613275"/>
                <a:gd name="connsiteY1" fmla="*/ 6570 h 1575020"/>
                <a:gd name="connsiteX2" fmla="*/ 4124325 w 4613275"/>
                <a:gd name="connsiteY2" fmla="*/ 987645 h 1575020"/>
                <a:gd name="connsiteX3" fmla="*/ 4613275 w 4613275"/>
                <a:gd name="connsiteY3" fmla="*/ 1384520 h 1575020"/>
                <a:gd name="connsiteX0" fmla="*/ 0 w 4613275"/>
                <a:gd name="connsiteY0" fmla="*/ 1575020 h 1575020"/>
                <a:gd name="connsiteX1" fmla="*/ 2562225 w 4613275"/>
                <a:gd name="connsiteY1" fmla="*/ 6570 h 1575020"/>
                <a:gd name="connsiteX2" fmla="*/ 4124325 w 4613275"/>
                <a:gd name="connsiteY2" fmla="*/ 987645 h 1575020"/>
                <a:gd name="connsiteX3" fmla="*/ 4613275 w 4613275"/>
                <a:gd name="connsiteY3" fmla="*/ 1384520 h 157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275" h="1575020">
                  <a:moveTo>
                    <a:pt x="0" y="1575020"/>
                  </a:moveTo>
                  <a:cubicBezTo>
                    <a:pt x="451908" y="1152480"/>
                    <a:pt x="1799167" y="40966"/>
                    <a:pt x="2562225" y="6570"/>
                  </a:cubicBezTo>
                  <a:cubicBezTo>
                    <a:pt x="3227387" y="-79155"/>
                    <a:pt x="3810529" y="697132"/>
                    <a:pt x="4124325" y="987645"/>
                  </a:cubicBezTo>
                  <a:cubicBezTo>
                    <a:pt x="4438121" y="1255933"/>
                    <a:pt x="4515379" y="1333191"/>
                    <a:pt x="4613275" y="1384520"/>
                  </a:cubicBezTo>
                </a:path>
              </a:pathLst>
            </a:cu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E783B74D-982A-B551-D373-BF14DBA1C206}"/>
                </a:ext>
              </a:extLst>
            </p:cNvPr>
            <p:cNvSpPr/>
            <p:nvPr/>
          </p:nvSpPr>
          <p:spPr>
            <a:xfrm>
              <a:off x="6867524" y="4460876"/>
              <a:ext cx="4619625" cy="1536700"/>
            </a:xfrm>
            <a:custGeom>
              <a:avLst/>
              <a:gdLst>
                <a:gd name="connsiteX0" fmla="*/ 0 w 4457700"/>
                <a:gd name="connsiteY0" fmla="*/ 1501775 h 1501775"/>
                <a:gd name="connsiteX1" fmla="*/ 2092325 w 4457700"/>
                <a:gd name="connsiteY1" fmla="*/ 1209675 h 1501775"/>
                <a:gd name="connsiteX2" fmla="*/ 4457700 w 4457700"/>
                <a:gd name="connsiteY2" fmla="*/ 0 h 1501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57700" h="1501775">
                  <a:moveTo>
                    <a:pt x="0" y="1501775"/>
                  </a:moveTo>
                  <a:cubicBezTo>
                    <a:pt x="674687" y="1480873"/>
                    <a:pt x="1349375" y="1459971"/>
                    <a:pt x="2092325" y="1209675"/>
                  </a:cubicBezTo>
                  <a:cubicBezTo>
                    <a:pt x="2835275" y="959379"/>
                    <a:pt x="3646487" y="479689"/>
                    <a:pt x="4457700" y="0"/>
                  </a:cubicBezTo>
                </a:path>
              </a:pathLst>
            </a:custGeom>
            <a:ln w="952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386D97E-787E-A34D-CB60-A8D44659B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4175" y="4181476"/>
              <a:ext cx="0" cy="1885949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DB0F27B3-896A-D090-ED35-EDF7CA8C5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5375" y="4181476"/>
              <a:ext cx="0" cy="1885949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1345472-9CDF-EC8B-BDDB-3C1EA6781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1025" y="4178301"/>
              <a:ext cx="0" cy="1885949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397542E-F158-ACBE-0753-30DD4FF926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8150" y="4178301"/>
              <a:ext cx="0" cy="1885949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12A06AC1-0ABF-03D4-8B7C-594243CE1820}"/>
                </a:ext>
              </a:extLst>
            </p:cNvPr>
            <p:cNvSpPr txBox="1"/>
            <p:nvPr/>
          </p:nvSpPr>
          <p:spPr>
            <a:xfrm>
              <a:off x="11402853" y="560070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TPS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537DEC9-7807-36CF-951D-DA010E8F62F3}"/>
                </a:ext>
              </a:extLst>
            </p:cNvPr>
            <p:cNvSpPr txBox="1"/>
            <p:nvPr/>
          </p:nvSpPr>
          <p:spPr>
            <a:xfrm>
              <a:off x="11307921" y="4233742"/>
              <a:ext cx="4031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RT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FE153E6-4500-EB15-B06C-C0C21F5AE6B3}"/>
                </a:ext>
              </a:extLst>
            </p:cNvPr>
            <p:cNvSpPr txBox="1"/>
            <p:nvPr/>
          </p:nvSpPr>
          <p:spPr>
            <a:xfrm>
              <a:off x="7846920" y="6035896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2664081-3F26-6F1D-6BEB-DDC1AD494C78}"/>
                </a:ext>
              </a:extLst>
            </p:cNvPr>
            <p:cNvSpPr txBox="1"/>
            <p:nvPr/>
          </p:nvSpPr>
          <p:spPr>
            <a:xfrm>
              <a:off x="8558120" y="6035896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62B8AE6-EF06-D947-A84F-DF2E1A1AA043}"/>
                </a:ext>
              </a:extLst>
            </p:cNvPr>
            <p:cNvSpPr txBox="1"/>
            <p:nvPr/>
          </p:nvSpPr>
          <p:spPr>
            <a:xfrm>
              <a:off x="9312181" y="6034187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76EC9BB-3527-504E-81E9-1D8B543D8F7C}"/>
                </a:ext>
              </a:extLst>
            </p:cNvPr>
            <p:cNvSpPr txBox="1"/>
            <p:nvPr/>
          </p:nvSpPr>
          <p:spPr>
            <a:xfrm>
              <a:off x="10445704" y="6034187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6629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881FBF83-FB00-BF90-B9F9-A0483C5C2F0A}"/>
              </a:ext>
            </a:extLst>
          </p:cNvPr>
          <p:cNvGrpSpPr/>
          <p:nvPr/>
        </p:nvGrpSpPr>
        <p:grpSpPr>
          <a:xfrm>
            <a:off x="406400" y="109365"/>
            <a:ext cx="6440311" cy="6714750"/>
            <a:chOff x="406400" y="109365"/>
            <a:chExt cx="6440311" cy="671475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D1A4EC2-FAC7-A761-5A15-96C76ED5CE8F}"/>
                </a:ext>
              </a:extLst>
            </p:cNvPr>
            <p:cNvSpPr/>
            <p:nvPr/>
          </p:nvSpPr>
          <p:spPr>
            <a:xfrm>
              <a:off x="575733" y="6254371"/>
              <a:ext cx="2393245" cy="42086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本地磁盘设备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4CAE951-2CBE-C5C0-BC5C-36CA807F7316}"/>
                </a:ext>
              </a:extLst>
            </p:cNvPr>
            <p:cNvSpPr/>
            <p:nvPr/>
          </p:nvSpPr>
          <p:spPr>
            <a:xfrm>
              <a:off x="4176889" y="6266361"/>
              <a:ext cx="2506133" cy="42086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网络存储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100F7F0-73E7-1AFC-E46B-FE265F1907D6}"/>
                </a:ext>
              </a:extLst>
            </p:cNvPr>
            <p:cNvSpPr/>
            <p:nvPr/>
          </p:nvSpPr>
          <p:spPr>
            <a:xfrm>
              <a:off x="575733" y="5606318"/>
              <a:ext cx="6107289" cy="42087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缓冲区 （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Buffer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2E25CE4-7DA2-682A-D94C-5E11AE750E6C}"/>
                </a:ext>
              </a:extLst>
            </p:cNvPr>
            <p:cNvSpPr/>
            <p:nvPr/>
          </p:nvSpPr>
          <p:spPr>
            <a:xfrm>
              <a:off x="575733" y="4302100"/>
              <a:ext cx="6107289" cy="1077035"/>
            </a:xfrm>
            <a:prstGeom prst="rect">
              <a:avLst/>
            </a:prstGeom>
            <a:solidFill>
              <a:srgbClr val="FFCCFF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1DD4BC9-137D-68CB-ED41-B91B0AE532C9}"/>
                </a:ext>
              </a:extLst>
            </p:cNvPr>
            <p:cNvSpPr/>
            <p:nvPr/>
          </p:nvSpPr>
          <p:spPr>
            <a:xfrm>
              <a:off x="1986139" y="4981202"/>
              <a:ext cx="886178" cy="304800"/>
            </a:xfrm>
            <a:prstGeom prst="rect">
              <a:avLst/>
            </a:prstGeom>
            <a:solidFill>
              <a:srgbClr val="FF66CC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XFS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FA52BEC-D5A5-6C1B-2ECB-7BF06E30369C}"/>
                </a:ext>
              </a:extLst>
            </p:cNvPr>
            <p:cNvSpPr/>
            <p:nvPr/>
          </p:nvSpPr>
          <p:spPr>
            <a:xfrm>
              <a:off x="3190523" y="4981202"/>
              <a:ext cx="886178" cy="304800"/>
            </a:xfrm>
            <a:prstGeom prst="rect">
              <a:avLst/>
            </a:prstGeom>
            <a:solidFill>
              <a:srgbClr val="FF66CC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ZFS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922893F-172D-DDD3-E7CC-DD00F46F7402}"/>
                </a:ext>
              </a:extLst>
            </p:cNvPr>
            <p:cNvSpPr/>
            <p:nvPr/>
          </p:nvSpPr>
          <p:spPr>
            <a:xfrm>
              <a:off x="5599289" y="4981202"/>
              <a:ext cx="886178" cy="304800"/>
            </a:xfrm>
            <a:prstGeom prst="rect">
              <a:avLst/>
            </a:prstGeom>
            <a:solidFill>
              <a:srgbClr val="FF66CC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NFS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CE3789E-03E9-EDCC-9CAE-0C464813962E}"/>
                </a:ext>
              </a:extLst>
            </p:cNvPr>
            <p:cNvSpPr/>
            <p:nvPr/>
          </p:nvSpPr>
          <p:spPr>
            <a:xfrm>
              <a:off x="4394907" y="4981202"/>
              <a:ext cx="886178" cy="304800"/>
            </a:xfrm>
            <a:prstGeom prst="rect">
              <a:avLst/>
            </a:prstGeom>
            <a:solidFill>
              <a:srgbClr val="FF66CC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F63A660-7CA2-02FB-61B4-F11E5E06C549}"/>
                </a:ext>
              </a:extLst>
            </p:cNvPr>
            <p:cNvSpPr/>
            <p:nvPr/>
          </p:nvSpPr>
          <p:spPr>
            <a:xfrm>
              <a:off x="1850847" y="2911817"/>
              <a:ext cx="2853976" cy="116134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虚拟文件系统（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VFS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7E93EC6-5F67-25E1-26B0-7A5107539966}"/>
                </a:ext>
              </a:extLst>
            </p:cNvPr>
            <p:cNvSpPr/>
            <p:nvPr/>
          </p:nvSpPr>
          <p:spPr>
            <a:xfrm>
              <a:off x="575733" y="2257759"/>
              <a:ext cx="6107289" cy="42512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系统调用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99CADBF-EA10-8851-0710-99BAF0EC6700}"/>
                </a:ext>
              </a:extLst>
            </p:cNvPr>
            <p:cNvSpPr/>
            <p:nvPr/>
          </p:nvSpPr>
          <p:spPr>
            <a:xfrm>
              <a:off x="575733" y="253994"/>
              <a:ext cx="6107289" cy="443788"/>
            </a:xfrm>
            <a:prstGeom prst="rect">
              <a:avLst/>
            </a:prstGeom>
            <a:solidFill>
              <a:srgbClr val="B4B0E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应用程序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B98B417-5DB1-24C9-3ED2-3395F0F9AAC9}"/>
                </a:ext>
              </a:extLst>
            </p:cNvPr>
            <p:cNvSpPr/>
            <p:nvPr/>
          </p:nvSpPr>
          <p:spPr>
            <a:xfrm>
              <a:off x="4445707" y="870990"/>
              <a:ext cx="1670755" cy="419182"/>
            </a:xfrm>
            <a:prstGeom prst="rect">
              <a:avLst/>
            </a:prstGeom>
            <a:solidFill>
              <a:srgbClr val="B4B0E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库函数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A75BFF7-1901-F4F7-7E1B-43CD0A3A4C46}"/>
                </a:ext>
              </a:extLst>
            </p:cNvPr>
            <p:cNvSpPr/>
            <p:nvPr/>
          </p:nvSpPr>
          <p:spPr>
            <a:xfrm>
              <a:off x="781755" y="4981202"/>
              <a:ext cx="886178" cy="304800"/>
            </a:xfrm>
            <a:prstGeom prst="rect">
              <a:avLst/>
            </a:prstGeom>
            <a:solidFill>
              <a:srgbClr val="FF66CC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Ext4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2AD2787-7618-DAA3-28FC-E1DAC8EBE490}"/>
                </a:ext>
              </a:extLst>
            </p:cNvPr>
            <p:cNvSpPr/>
            <p:nvPr/>
          </p:nvSpPr>
          <p:spPr>
            <a:xfrm>
              <a:off x="2872317" y="4312336"/>
              <a:ext cx="1563511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文件系统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30716D8-CF8A-4DAC-D4F9-284A7A347C7F}"/>
                </a:ext>
              </a:extLst>
            </p:cNvPr>
            <p:cNvSpPr/>
            <p:nvPr/>
          </p:nvSpPr>
          <p:spPr>
            <a:xfrm>
              <a:off x="575733" y="2915143"/>
              <a:ext cx="924632" cy="11613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页缓存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A244437-6A61-6280-20CB-142D62F52B35}"/>
                </a:ext>
              </a:extLst>
            </p:cNvPr>
            <p:cNvSpPr/>
            <p:nvPr/>
          </p:nvSpPr>
          <p:spPr>
            <a:xfrm>
              <a:off x="5066597" y="2912972"/>
              <a:ext cx="1616425" cy="5086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目录项缓存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C91C5C5-B739-8B5C-62FE-D6E2A691840C}"/>
                </a:ext>
              </a:extLst>
            </p:cNvPr>
            <p:cNvSpPr/>
            <p:nvPr/>
          </p:nvSpPr>
          <p:spPr>
            <a:xfrm>
              <a:off x="5060951" y="3564466"/>
              <a:ext cx="1627715" cy="5086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索引节点缓存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37CC61F-88FC-8245-E668-FABFC54EA355}"/>
                </a:ext>
              </a:extLst>
            </p:cNvPr>
            <p:cNvSpPr/>
            <p:nvPr/>
          </p:nvSpPr>
          <p:spPr>
            <a:xfrm>
              <a:off x="406400" y="1738470"/>
              <a:ext cx="6440311" cy="5085645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9FEB594-C531-59E6-160A-3A8FA06A0D0B}"/>
                </a:ext>
              </a:extLst>
            </p:cNvPr>
            <p:cNvSpPr/>
            <p:nvPr/>
          </p:nvSpPr>
          <p:spPr>
            <a:xfrm>
              <a:off x="406401" y="1764888"/>
              <a:ext cx="1213556" cy="2926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内核空间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29EE9D8-1E5D-FCE2-F2D4-0BABE91828AC}"/>
                </a:ext>
              </a:extLst>
            </p:cNvPr>
            <p:cNvSpPr/>
            <p:nvPr/>
          </p:nvSpPr>
          <p:spPr>
            <a:xfrm>
              <a:off x="406401" y="1039860"/>
              <a:ext cx="1213556" cy="2926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用户空间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8BAE9C8-6276-D8AB-8659-07600B2CCF37}"/>
                </a:ext>
              </a:extLst>
            </p:cNvPr>
            <p:cNvSpPr/>
            <p:nvPr/>
          </p:nvSpPr>
          <p:spPr>
            <a:xfrm>
              <a:off x="406400" y="109365"/>
              <a:ext cx="6440311" cy="1459767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99762C1-2AEB-CCFB-2CD2-4C64B6746A1C}"/>
                </a:ext>
              </a:extLst>
            </p:cNvPr>
            <p:cNvCxnSpPr/>
            <p:nvPr/>
          </p:nvCxnSpPr>
          <p:spPr>
            <a:xfrm>
              <a:off x="2314222" y="697782"/>
              <a:ext cx="0" cy="1559977"/>
            </a:xfrm>
            <a:prstGeom prst="line">
              <a:avLst/>
            </a:prstGeom>
            <a:ln w="19050">
              <a:solidFill>
                <a:srgbClr val="B4B0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0B2DB8C-B4A5-3DD6-733B-BD45297C1E72}"/>
                </a:ext>
              </a:extLst>
            </p:cNvPr>
            <p:cNvCxnSpPr>
              <a:stCxn id="16" idx="2"/>
            </p:cNvCxnSpPr>
            <p:nvPr/>
          </p:nvCxnSpPr>
          <p:spPr>
            <a:xfrm>
              <a:off x="5281085" y="1290172"/>
              <a:ext cx="0" cy="958062"/>
            </a:xfrm>
            <a:prstGeom prst="line">
              <a:avLst/>
            </a:prstGeom>
            <a:ln w="19050">
              <a:solidFill>
                <a:srgbClr val="B4B0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089E496-30AB-961E-3E2F-AA8FF2E622FC}"/>
                </a:ext>
              </a:extLst>
            </p:cNvPr>
            <p:cNvCxnSpPr>
              <a:stCxn id="13" idx="1"/>
              <a:endCxn id="19" idx="3"/>
            </p:cNvCxnSpPr>
            <p:nvPr/>
          </p:nvCxnSpPr>
          <p:spPr>
            <a:xfrm flipH="1">
              <a:off x="1500365" y="3492490"/>
              <a:ext cx="350482" cy="3326"/>
            </a:xfrm>
            <a:prstGeom prst="line">
              <a:avLst/>
            </a:prstGeom>
            <a:ln w="1905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3CFB1C0-EBBE-6CED-6742-A6E023EAA00B}"/>
                </a:ext>
              </a:extLst>
            </p:cNvPr>
            <p:cNvCxnSpPr>
              <a:stCxn id="20" idx="1"/>
            </p:cNvCxnSpPr>
            <p:nvPr/>
          </p:nvCxnSpPr>
          <p:spPr>
            <a:xfrm flipH="1" flipV="1">
              <a:off x="4704823" y="3167320"/>
              <a:ext cx="361774" cy="1"/>
            </a:xfrm>
            <a:prstGeom prst="line">
              <a:avLst/>
            </a:prstGeom>
            <a:ln w="1905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A491BA3-2978-C14C-DCA6-C653A737D8C2}"/>
                </a:ext>
              </a:extLst>
            </p:cNvPr>
            <p:cNvCxnSpPr>
              <a:stCxn id="21" idx="1"/>
            </p:cNvCxnSpPr>
            <p:nvPr/>
          </p:nvCxnSpPr>
          <p:spPr>
            <a:xfrm flipH="1" flipV="1">
              <a:off x="4702000" y="3818814"/>
              <a:ext cx="358951" cy="1"/>
            </a:xfrm>
            <a:prstGeom prst="line">
              <a:avLst/>
            </a:prstGeom>
            <a:ln w="1905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806C058-9982-237A-5692-55DBDC65321D}"/>
                </a:ext>
              </a:extLst>
            </p:cNvPr>
            <p:cNvCxnSpPr>
              <a:stCxn id="8" idx="0"/>
            </p:cNvCxnSpPr>
            <p:nvPr/>
          </p:nvCxnSpPr>
          <p:spPr>
            <a:xfrm flipH="1" flipV="1">
              <a:off x="3626555" y="4058795"/>
              <a:ext cx="2823" cy="243305"/>
            </a:xfrm>
            <a:prstGeom prst="line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D8CEDCFC-9EEC-5031-9FF7-A03D18A15D52}"/>
                </a:ext>
              </a:extLst>
            </p:cNvPr>
            <p:cNvCxnSpPr>
              <a:stCxn id="8" idx="2"/>
              <a:endCxn id="6" idx="0"/>
            </p:cNvCxnSpPr>
            <p:nvPr/>
          </p:nvCxnSpPr>
          <p:spPr>
            <a:xfrm>
              <a:off x="3629378" y="5379135"/>
              <a:ext cx="0" cy="227183"/>
            </a:xfrm>
            <a:prstGeom prst="line">
              <a:avLst/>
            </a:prstGeom>
            <a:ln w="19050">
              <a:solidFill>
                <a:srgbClr val="FFCC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F3E90879-D71C-8D3C-7605-7F8C03BC16FA}"/>
                </a:ext>
              </a:extLst>
            </p:cNvPr>
            <p:cNvCxnSpPr>
              <a:stCxn id="4" idx="0"/>
            </p:cNvCxnSpPr>
            <p:nvPr/>
          </p:nvCxnSpPr>
          <p:spPr>
            <a:xfrm flipH="1" flipV="1">
              <a:off x="1772355" y="6027188"/>
              <a:ext cx="1" cy="227183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07F79E3-FD9E-54B5-9563-BE7C7E7D9951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H="1" flipV="1">
              <a:off x="5429955" y="6027188"/>
              <a:ext cx="1" cy="239173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16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>
            <a:extLst>
              <a:ext uri="{FF2B5EF4-FFF2-40B4-BE49-F238E27FC236}">
                <a16:creationId xmlns:a16="http://schemas.microsoft.com/office/drawing/2014/main" id="{C6BA5F85-DDF1-7856-8D52-BA26285E4A9D}"/>
              </a:ext>
            </a:extLst>
          </p:cNvPr>
          <p:cNvGrpSpPr/>
          <p:nvPr/>
        </p:nvGrpSpPr>
        <p:grpSpPr>
          <a:xfrm>
            <a:off x="0" y="2077156"/>
            <a:ext cx="12213339" cy="3143606"/>
            <a:chOff x="56448" y="1467556"/>
            <a:chExt cx="12213339" cy="3143606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70545D8F-18E4-4594-AA92-E4FF37AEF880}"/>
                </a:ext>
              </a:extLst>
            </p:cNvPr>
            <p:cNvSpPr/>
            <p:nvPr/>
          </p:nvSpPr>
          <p:spPr>
            <a:xfrm>
              <a:off x="56448" y="1467556"/>
              <a:ext cx="1100664" cy="6604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性能指标</a:t>
              </a: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0B87EF0-0818-33F9-9B84-BC1080E7BA64}"/>
                </a:ext>
              </a:extLst>
            </p:cNvPr>
            <p:cNvSpPr/>
            <p:nvPr/>
          </p:nvSpPr>
          <p:spPr>
            <a:xfrm>
              <a:off x="1889011" y="1467556"/>
              <a:ext cx="1100664" cy="6604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性能模型</a:t>
              </a: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109B93B0-1A36-E932-8A56-97558FDE6CA7}"/>
                </a:ext>
              </a:extLst>
            </p:cNvPr>
            <p:cNvSpPr/>
            <p:nvPr/>
          </p:nvSpPr>
          <p:spPr>
            <a:xfrm>
              <a:off x="3721574" y="1467556"/>
              <a:ext cx="1100664" cy="6604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性能方案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20FECB9-5467-8FBA-C3AD-2D0BD71533CC}"/>
                </a:ext>
              </a:extLst>
            </p:cNvPr>
            <p:cNvSpPr/>
            <p:nvPr/>
          </p:nvSpPr>
          <p:spPr>
            <a:xfrm>
              <a:off x="5554137" y="1467556"/>
              <a:ext cx="1100664" cy="6604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性能监控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84F3275-C1FB-340C-695F-911EAC8FC79F}"/>
                </a:ext>
              </a:extLst>
            </p:cNvPr>
            <p:cNvSpPr/>
            <p:nvPr/>
          </p:nvSpPr>
          <p:spPr>
            <a:xfrm>
              <a:off x="7386700" y="1467556"/>
              <a:ext cx="1100664" cy="6604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执行测试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895DB3C2-71DE-9795-A718-59CE6BCFCBBB}"/>
                </a:ext>
              </a:extLst>
            </p:cNvPr>
            <p:cNvSpPr/>
            <p:nvPr/>
          </p:nvSpPr>
          <p:spPr>
            <a:xfrm>
              <a:off x="9219263" y="1467556"/>
              <a:ext cx="1100664" cy="6604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分析调优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37194ED-4B06-A36C-AAE7-3E2DF501E71E}"/>
                </a:ext>
              </a:extLst>
            </p:cNvPr>
            <p:cNvSpPr/>
            <p:nvPr/>
          </p:nvSpPr>
          <p:spPr>
            <a:xfrm>
              <a:off x="11051824" y="1467556"/>
              <a:ext cx="1100664" cy="6604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测试报告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4416945-1741-65C2-26CE-910D846EFB2B}"/>
                </a:ext>
              </a:extLst>
            </p:cNvPr>
            <p:cNvSpPr txBox="1"/>
            <p:nvPr/>
          </p:nvSpPr>
          <p:spPr>
            <a:xfrm>
              <a:off x="334910" y="237517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时间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4B6A5A6-DE23-CD30-3233-570F90AE3DD2}"/>
                </a:ext>
              </a:extLst>
            </p:cNvPr>
            <p:cNvSpPr txBox="1"/>
            <p:nvPr/>
          </p:nvSpPr>
          <p:spPr>
            <a:xfrm>
              <a:off x="358330" y="269654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TPS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407A9B6-381E-4A79-B6B8-DC4B7D2E251D}"/>
                </a:ext>
              </a:extLst>
            </p:cNvPr>
            <p:cNvSpPr txBox="1"/>
            <p:nvPr/>
          </p:nvSpPr>
          <p:spPr>
            <a:xfrm>
              <a:off x="238878" y="301716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成功率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9D5F945-830E-8F6E-3917-36FC19FD540C}"/>
                </a:ext>
              </a:extLst>
            </p:cNvPr>
            <p:cNvSpPr txBox="1"/>
            <p:nvPr/>
          </p:nvSpPr>
          <p:spPr>
            <a:xfrm>
              <a:off x="74764" y="3336979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资源使用率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EDB1497-CA83-F6CB-0827-42B3B30B6017}"/>
                </a:ext>
              </a:extLst>
            </p:cNvPr>
            <p:cNvSpPr txBox="1"/>
            <p:nvPr/>
          </p:nvSpPr>
          <p:spPr>
            <a:xfrm>
              <a:off x="1987937" y="237517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用户模型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AFBDBDC-5848-452F-7613-6A634E8EF8FB}"/>
                </a:ext>
              </a:extLst>
            </p:cNvPr>
            <p:cNvSpPr txBox="1"/>
            <p:nvPr/>
          </p:nvSpPr>
          <p:spPr>
            <a:xfrm>
              <a:off x="1987936" y="2677744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业务模型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B89D83D-0469-5769-B7C7-CE5ADE29DA95}"/>
                </a:ext>
              </a:extLst>
            </p:cNvPr>
            <p:cNvSpPr txBox="1"/>
            <p:nvPr/>
          </p:nvSpPr>
          <p:spPr>
            <a:xfrm>
              <a:off x="1984028" y="30315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数据模型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941513A-76A5-D36E-474C-9AB60507DA6D}"/>
                </a:ext>
              </a:extLst>
            </p:cNvPr>
            <p:cNvSpPr txBox="1"/>
            <p:nvPr/>
          </p:nvSpPr>
          <p:spPr>
            <a:xfrm>
              <a:off x="1979620" y="3352872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系统模型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F1C13B8-A6DB-7D4F-2617-94276136CAC1}"/>
                </a:ext>
              </a:extLst>
            </p:cNvPr>
            <p:cNvSpPr txBox="1"/>
            <p:nvPr/>
          </p:nvSpPr>
          <p:spPr>
            <a:xfrm>
              <a:off x="3846391" y="237517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测试环境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F2D6D99-B5DF-C5BE-4633-BE242C2CF4CB}"/>
                </a:ext>
              </a:extLst>
            </p:cNvPr>
            <p:cNvSpPr txBox="1"/>
            <p:nvPr/>
          </p:nvSpPr>
          <p:spPr>
            <a:xfrm>
              <a:off x="3846391" y="2696542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测试数据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158E03C-C2F2-B5F2-6E00-873ADE3A0C97}"/>
                </a:ext>
              </a:extLst>
            </p:cNvPr>
            <p:cNvSpPr txBox="1"/>
            <p:nvPr/>
          </p:nvSpPr>
          <p:spPr>
            <a:xfrm>
              <a:off x="3846391" y="301791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测试模型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9482238-0C0C-7440-B072-C3C31B5D4565}"/>
                </a:ext>
              </a:extLst>
            </p:cNvPr>
            <p:cNvSpPr txBox="1"/>
            <p:nvPr/>
          </p:nvSpPr>
          <p:spPr>
            <a:xfrm>
              <a:off x="3846391" y="3339280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性能指标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7D6AD98-865E-416A-89D6-419DE127D84F}"/>
                </a:ext>
              </a:extLst>
            </p:cNvPr>
            <p:cNvSpPr txBox="1"/>
            <p:nvPr/>
          </p:nvSpPr>
          <p:spPr>
            <a:xfrm>
              <a:off x="3846391" y="366064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压力策略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72D6E2E-D32E-3CFB-647B-BC2A94FCC5B0}"/>
                </a:ext>
              </a:extLst>
            </p:cNvPr>
            <p:cNvSpPr txBox="1"/>
            <p:nvPr/>
          </p:nvSpPr>
          <p:spPr>
            <a:xfrm>
              <a:off x="5653063" y="237517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系统架构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6DF92E2-E2A1-D999-7A4C-6E35413CE18D}"/>
                </a:ext>
              </a:extLst>
            </p:cNvPr>
            <p:cNvSpPr txBox="1"/>
            <p:nvPr/>
          </p:nvSpPr>
          <p:spPr>
            <a:xfrm>
              <a:off x="3846391" y="4303385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进度风险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E6F08DD4-601D-600F-EC29-93F6E898A629}"/>
                </a:ext>
              </a:extLst>
            </p:cNvPr>
            <p:cNvSpPr txBox="1"/>
            <p:nvPr/>
          </p:nvSpPr>
          <p:spPr>
            <a:xfrm>
              <a:off x="3846391" y="3982018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准入准出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CC1B0C1-7FF4-0FEA-C3F2-F450B0115D6C}"/>
                </a:ext>
              </a:extLst>
            </p:cNvPr>
            <p:cNvSpPr txBox="1"/>
            <p:nvPr/>
          </p:nvSpPr>
          <p:spPr>
            <a:xfrm>
              <a:off x="5653062" y="271974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系统监控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DAB6ECC-FF17-B164-131C-E4806FCD493C}"/>
                </a:ext>
              </a:extLst>
            </p:cNvPr>
            <p:cNvSpPr txBox="1"/>
            <p:nvPr/>
          </p:nvSpPr>
          <p:spPr>
            <a:xfrm>
              <a:off x="5653062" y="302533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缓存监控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166690A-0F3F-0A53-4A3D-D8D0CB5FC65E}"/>
                </a:ext>
              </a:extLst>
            </p:cNvPr>
            <p:cNvSpPr txBox="1"/>
            <p:nvPr/>
          </p:nvSpPr>
          <p:spPr>
            <a:xfrm>
              <a:off x="5644594" y="3352872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队列监控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9B71547-C62B-504B-B7FE-7803DEFE30BE}"/>
                </a:ext>
              </a:extLst>
            </p:cNvPr>
            <p:cNvSpPr txBox="1"/>
            <p:nvPr/>
          </p:nvSpPr>
          <p:spPr>
            <a:xfrm>
              <a:off x="5473525" y="3665270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负载均衡监控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F731D79-2EC0-9DD2-B488-0CF115B77C30}"/>
                </a:ext>
              </a:extLst>
            </p:cNvPr>
            <p:cNvSpPr txBox="1"/>
            <p:nvPr/>
          </p:nvSpPr>
          <p:spPr>
            <a:xfrm>
              <a:off x="5641772" y="3983974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链路监控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56A3779-799D-6FB3-1384-AA15887BB88C}"/>
                </a:ext>
              </a:extLst>
            </p:cNvPr>
            <p:cNvSpPr txBox="1"/>
            <p:nvPr/>
          </p:nvSpPr>
          <p:spPr>
            <a:xfrm>
              <a:off x="7485626" y="237517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基准场景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2C0F6B0-3F81-BF71-88D2-6A34FBF6D7A8}"/>
                </a:ext>
              </a:extLst>
            </p:cNvPr>
            <p:cNvSpPr txBox="1"/>
            <p:nvPr/>
          </p:nvSpPr>
          <p:spPr>
            <a:xfrm>
              <a:off x="7485626" y="269654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压力场景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484F260-8B13-12A6-4FCA-9D7DD166DAFD}"/>
                </a:ext>
              </a:extLst>
            </p:cNvPr>
            <p:cNvSpPr txBox="1"/>
            <p:nvPr/>
          </p:nvSpPr>
          <p:spPr>
            <a:xfrm>
              <a:off x="7405016" y="3017911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稳定性场景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FCDDB1A-51E9-C325-984F-6DD3546F1CED}"/>
                </a:ext>
              </a:extLst>
            </p:cNvPr>
            <p:cNvSpPr txBox="1"/>
            <p:nvPr/>
          </p:nvSpPr>
          <p:spPr>
            <a:xfrm>
              <a:off x="9322898" y="237517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问题排查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FC758B7-BC26-407F-2B81-40ABB64EF9EF}"/>
                </a:ext>
              </a:extLst>
            </p:cNvPr>
            <p:cNvSpPr txBox="1"/>
            <p:nvPr/>
          </p:nvSpPr>
          <p:spPr>
            <a:xfrm>
              <a:off x="9322898" y="271974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系统调优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DECDF8E-D0E4-EE5C-CC64-657D9370CD8E}"/>
                </a:ext>
              </a:extLst>
            </p:cNvPr>
            <p:cNvSpPr txBox="1"/>
            <p:nvPr/>
          </p:nvSpPr>
          <p:spPr>
            <a:xfrm>
              <a:off x="10971214" y="2375173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场景测试结果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2248BE8-BD61-1FB0-6369-65F635571773}"/>
                </a:ext>
              </a:extLst>
            </p:cNvPr>
            <p:cNvSpPr txBox="1"/>
            <p:nvPr/>
          </p:nvSpPr>
          <p:spPr>
            <a:xfrm>
              <a:off x="11160170" y="2709390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监控结果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DB39787-DE31-8979-FFF1-C1F4A5AF2D8C}"/>
                </a:ext>
              </a:extLst>
            </p:cNvPr>
            <p:cNvSpPr txBox="1"/>
            <p:nvPr/>
          </p:nvSpPr>
          <p:spPr>
            <a:xfrm>
              <a:off x="11007903" y="3027874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性能整体分析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554023-E23F-830C-5F56-72AEF6B18FA7}"/>
                </a:ext>
              </a:extLst>
            </p:cNvPr>
            <p:cNvSpPr txBox="1"/>
            <p:nvPr/>
          </p:nvSpPr>
          <p:spPr>
            <a:xfrm>
              <a:off x="11150750" y="333311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测试结论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273C54B-BEDF-0317-3D90-89270DEDE47A}"/>
                </a:ext>
              </a:extLst>
            </p:cNvPr>
            <p:cNvSpPr txBox="1"/>
            <p:nvPr/>
          </p:nvSpPr>
          <p:spPr>
            <a:xfrm>
              <a:off x="11150749" y="366026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优化建议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1174EE4-DE97-9593-8C85-FD5B2853E98D}"/>
                </a:ext>
              </a:extLst>
            </p:cNvPr>
            <p:cNvSpPr txBox="1"/>
            <p:nvPr/>
          </p:nvSpPr>
          <p:spPr>
            <a:xfrm>
              <a:off x="11150748" y="3982018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运维建议</a:t>
              </a: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846E98C-38C3-1F51-0310-90FAC5084C26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1157112" y="1797756"/>
              <a:ext cx="73189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4CBDEB7-65D6-8B31-7BC9-B9D95BC525B9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2989675" y="1797756"/>
              <a:ext cx="73189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C625E2D-8F23-8905-A0F3-446B3D7D58CA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4822238" y="1797756"/>
              <a:ext cx="73189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D3016B0-9149-5B07-91F3-78725C755F95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6654801" y="1797756"/>
              <a:ext cx="73189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C47250E-1C4C-E2E8-2099-8F28660A94DE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8487364" y="1797756"/>
              <a:ext cx="73189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EA918B9-80FE-A372-5F7E-BF949C2B90E5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10319927" y="1797756"/>
              <a:ext cx="7318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776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202</Words>
  <Application>Microsoft Office PowerPoint</Application>
  <PresentationFormat>宽屏</PresentationFormat>
  <Paragraphs>89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风儿</dc:creator>
  <cp:lastModifiedBy>风儿</cp:lastModifiedBy>
  <cp:revision>5</cp:revision>
  <dcterms:created xsi:type="dcterms:W3CDTF">2024-08-17T08:34:16Z</dcterms:created>
  <dcterms:modified xsi:type="dcterms:W3CDTF">2024-09-22T02:32:10Z</dcterms:modified>
</cp:coreProperties>
</file>